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  <a:latin typeface="Arial Black"/>
              </a:defRPr>
            </a:pPr>
            <a:r>
              <a:t>FNDI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78BFA"/>
                </a:solidFill>
                <a:latin typeface="Arial"/>
              </a:defRPr>
            </a:pPr>
            <a:r>
              <a:t>FUTURE NATIVE DIGITAL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AI-Powered Business Automation for Local Businesses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Business Plan  •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200400"/>
            <a:ext cx="2103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Founded by Stefano  •  Miami, FL  •  fndi-site.vercel.app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Local Businesses Are Losing</a:t>
            </a:r>
            <a:br/>
            <a:r>
              <a:t>Customers Every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rial"/>
              </a:defRPr>
            </a:pPr>
            <a:r>
              <a:t>Small businesses miss calls, forget follow-ups, and lose revenue because they can't afford full-time receptionists or marketing teams.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3383280" cy="155448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Arial"/>
              </a:defRPr>
            </a:pPr>
            <a:r>
              <a:t>62%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Calls Go Unanswered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97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Small businesses miss majority of 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3200400"/>
            <a:ext cx="3383280" cy="155448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34290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Arial"/>
              </a:defRPr>
            </a:pPr>
            <a:r>
              <a:t>$75B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977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Lost Revenue /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297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From missed calls &amp; poor follow-up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200400"/>
            <a:ext cx="3383280" cy="155448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4290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Arial"/>
              </a:defRPr>
            </a:pPr>
            <a: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977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Can't Afford 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4297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No budget for receptionist or marketing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Arial"/>
              </a:defRPr>
            </a:pPr>
            <a:r>
              <a:t>The businesses that survive the next 5 years will be the ones that automate. The ones that don't will be replaced by competitors who 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One Platform. Every Tool.</a:t>
            </a:r>
            <a:br/>
            <a:r>
              <a:t>Zero Missed Opportunities.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383280" cy="201168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3832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AI Voice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Answers every call 24/7 with a human-sounding AI. Books appointments, answers FAQs, transfers urgent calls. Never misses a customer.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03120"/>
            <a:ext cx="3383280" cy="201168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103120"/>
            <a:ext cx="33832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AI Website Chatbot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889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Engages visitors instantly, recommends services, captures leads, and books meetings — all while the business owner sleeps.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103120"/>
            <a:ext cx="3383280" cy="201168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103120"/>
            <a:ext cx="33832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CRM &amp;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889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Every lead tracked, every follow-up automated. Texts, emails, and reminders sent automatically. Nothing falls through the cracks.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72000"/>
            <a:ext cx="106984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Arial"/>
              </a:defRPr>
            </a:pPr>
            <a:r>
              <a:t>We set everything up, customize it for each client's industry, and manage it ongoing.</a:t>
            </a:r>
            <a:br/>
            <a:r>
              <a:t>The business owner doesn't need to touch anything — they just see more bookings and more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Simple 4-Step Process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7008" y="2560320"/>
            <a:ext cx="54864" cy="50292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Discovery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We learn about the business, their customers, peak hours, common questions, and pain points.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6324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7008" y="3703320"/>
            <a:ext cx="54864" cy="50292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063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Custom AI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29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Mac configures the voice agent and chatbot specifically for their industry — dental, restaurant, salon, etc.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7008" y="4846320"/>
            <a:ext cx="54864" cy="50292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Deploy &amp;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We launch the AI, run test calls, fine-tune responses, and connect everything to their CRM pipeline.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34924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40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349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Go Live &amp; Grow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715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Client starts getting calls answered, leads captured, and follow-ups automated from day one.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920240"/>
            <a:ext cx="4297680" cy="438912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Arial"/>
              </a:defRPr>
            </a:pPr>
            <a:r>
              <a:t>Client 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  <a:latin typeface="Arial"/>
              </a:defRPr>
            </a:pPr>
            <a:r>
              <a:t>24/7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Call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  <a:latin typeface="Arial"/>
              </a:defRPr>
            </a:pPr>
            <a:r>
              <a:t>&lt; 1 Week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Setup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Upfront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  <a:latin typeface="Arial"/>
              </a:defRPr>
            </a:pPr>
            <a:r>
              <a:t>Month-to-Month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No Contracts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33 Million Small Businesses.</a:t>
            </a:r>
            <a:br/>
            <a:r>
              <a:t>Almost None Use AI Yet.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2560320" cy="164592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Arial"/>
              </a:defRPr>
            </a:pPr>
            <a:r>
              <a:t>$50B+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Total addressable market for</a:t>
            </a:r>
            <a:br/>
            <a:r>
              <a:t>SMB automation in the US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103120"/>
            <a:ext cx="2560320" cy="164592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331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Arial"/>
              </a:defRPr>
            </a:pPr>
            <a:r>
              <a:t>$12B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Service businesses that</a:t>
            </a:r>
            <a:br/>
            <a:r>
              <a:t>need phone + web automation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03120"/>
            <a:ext cx="2560320" cy="164592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Arial"/>
              </a:defRPr>
            </a:pPr>
            <a:r>
              <a:t>$500M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Achievable market in</a:t>
            </a:r>
            <a:br/>
            <a:r>
              <a:t>top 20 metro areas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2103120"/>
            <a:ext cx="2560320" cy="164592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331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Arial"/>
              </a:defRPr>
            </a:pPr>
            <a:r>
              <a:t>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AI Adoption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Arial"/>
              </a:defRPr>
            </a:pPr>
            <a:r>
              <a:t>Current AI adoption rate</a:t>
            </a:r>
            <a:br/>
            <a:r>
              <a:t>among local businesses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Target Industries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75488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709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Dental &amp; Medical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$300-800/mo avg spend on marketing</a:t>
            </a:r>
          </a:p>
        </p:txBody>
      </p:sp>
      <p:sp>
        <p:nvSpPr>
          <p:cNvPr id="24" name="Oval 23"/>
          <p:cNvSpPr/>
          <p:nvPr/>
        </p:nvSpPr>
        <p:spPr>
          <a:xfrm>
            <a:off x="4480559" y="475488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4709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Restaurants &amp; Bars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High call volume, reservation management</a:t>
            </a:r>
          </a:p>
        </p:txBody>
      </p:sp>
      <p:sp>
        <p:nvSpPr>
          <p:cNvPr id="27" name="Oval 26"/>
          <p:cNvSpPr/>
          <p:nvPr/>
        </p:nvSpPr>
        <p:spPr>
          <a:xfrm>
            <a:off x="8229598" y="475488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198" y="4709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Med Spas &amp; Salons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198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Appointment-driven, high customer lifetime value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34924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Real Estate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532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Lead response time is everything</a:t>
            </a:r>
          </a:p>
        </p:txBody>
      </p:sp>
      <p:sp>
        <p:nvSpPr>
          <p:cNvPr id="33" name="Oval 32"/>
          <p:cNvSpPr/>
          <p:nvPr/>
        </p:nvSpPr>
        <p:spPr>
          <a:xfrm>
            <a:off x="4480559" y="534924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59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Auto Services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59" y="5532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Scheduling + follow-ups = repeat business</a:t>
            </a:r>
          </a:p>
        </p:txBody>
      </p:sp>
      <p:sp>
        <p:nvSpPr>
          <p:cNvPr id="36" name="Oval 35"/>
          <p:cNvSpPr/>
          <p:nvPr/>
        </p:nvSpPr>
        <p:spPr>
          <a:xfrm>
            <a:off x="8229598" y="534924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198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Law Firms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198" y="5532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High-value leads, can't afford to miss calls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Enterprise-Grade Tools.</a:t>
            </a:r>
            <a:br/>
            <a:r>
              <a:t>Startup-Friendly Costs.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303520" cy="100584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21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Synthflow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Arial"/>
              </a:defRPr>
            </a:pPr>
            <a:r>
              <a:t>Voice Agent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Human-sounding AI that handles inbound &amp; outbound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48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0B981"/>
                </a:solidFill>
                <a:latin typeface="Arial"/>
              </a:defRPr>
            </a:pPr>
            <a:r>
              <a:t>$29/mo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5303520" cy="100584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21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ElevenLabs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231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Arial"/>
              </a:defRPr>
            </a:pPr>
            <a:r>
              <a:t>Voice Synthesis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Industry-leading voice cloning for natural conversation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148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0B981"/>
                </a:solidFill>
                <a:latin typeface="Arial"/>
              </a:defRPr>
            </a:pPr>
            <a:r>
              <a:t>Included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5303520" cy="100584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310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OpenAI 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118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Arial"/>
              </a:defRPr>
            </a:pPr>
            <a:r>
              <a:t>Language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Powers intelligent conversation and decision-making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37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0B981"/>
                </a:solidFill>
                <a:latin typeface="Arial"/>
              </a:defRPr>
            </a:pPr>
            <a:r>
              <a:t>$20/mo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200400"/>
            <a:ext cx="5303520" cy="100584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310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GoHighLevel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6118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Arial"/>
              </a:defRPr>
            </a:pPr>
            <a:r>
              <a:t>CRM &amp;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Full CRM pipeline, automated follow-ups, client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337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0B981"/>
                </a:solidFill>
                <a:latin typeface="Arial"/>
              </a:defRPr>
            </a:pPr>
            <a:r>
              <a:t>$97/mo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389120"/>
            <a:ext cx="5303520" cy="100584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498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Twilio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8006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Arial"/>
              </a:defRPr>
            </a:pPr>
            <a:r>
              <a:t>Telephony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Phone numbers, call routing, SMS capabilities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526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0B981"/>
                </a:solidFill>
                <a:latin typeface="Arial"/>
              </a:defRPr>
            </a:pPr>
            <a:r>
              <a:t>$20/mo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389120"/>
            <a:ext cx="5303520" cy="100584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498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Vercel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8006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Arial"/>
              </a:defRPr>
            </a:pPr>
            <a:r>
              <a:t>Website Hosting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Fast, reliable hosting for FNDI and client sites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4526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0B981"/>
                </a:solidFill>
                <a:latin typeface="Arial"/>
              </a:defRPr>
            </a:pPr>
            <a:r>
              <a:t>Free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rial"/>
              </a:defRPr>
            </a:pPr>
            <a:r>
              <a:t>Total Monthly Infrastructure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715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  <a:latin typeface="Arial"/>
              </a:defRPr>
            </a:pPr>
            <a:r>
              <a:t>~$173/month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Recurring Revenue.</a:t>
            </a:r>
            <a:br/>
            <a:r>
              <a:t>Massive Margins.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383280" cy="411480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7C3AED"/>
                </a:solidFill>
                <a:latin typeface="Arial"/>
              </a:rPr>
              <a:t>$297</a:t>
            </a:r>
            <a:r>
              <a:rPr sz="1400">
                <a:solidFill>
                  <a:srgbClr val="94A3B8"/>
                </a:solidFill>
                <a:latin typeface="Arial"/>
              </a:rPr>
              <a:t>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✓  AI Voice Agent (100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✓  Website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✓  Basic CRM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✓  Email Follow-ups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011680"/>
            <a:ext cx="3383280" cy="411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103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MOST POPULAR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788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$497</a:t>
            </a:r>
            <a:r>
              <a:rPr sz="1400">
                <a:solidFill>
                  <a:srgbClr val="E8D5FF"/>
                </a:solidFill>
                <a:latin typeface="Arial"/>
              </a:rPr>
              <a:t>/month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19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D5FF"/>
                </a:solidFill>
                <a:latin typeface="Arial"/>
              </a:defRPr>
            </a:pPr>
            <a:r>
              <a:t>✓  AI Voice Agent (300 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19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D5FF"/>
                </a:solidFill>
                <a:latin typeface="Arial"/>
              </a:defRPr>
            </a:pPr>
            <a:r>
              <a:t>✓  Website Chatbot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19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D5FF"/>
                </a:solidFill>
                <a:latin typeface="Arial"/>
              </a:defRPr>
            </a:pPr>
            <a:r>
              <a:t>✓  Full CRM +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19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D5FF"/>
                </a:solidFill>
                <a:latin typeface="Arial"/>
              </a:defRPr>
            </a:pPr>
            <a:r>
              <a:t>✓  SMS + Email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19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D5FF"/>
                </a:solidFill>
                <a:latin typeface="Arial"/>
              </a:defRPr>
            </a:pPr>
            <a:r>
              <a:t>✓  Monthly Optimization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8" y="2011680"/>
            <a:ext cx="3383280" cy="411480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8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8" y="2788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7C3AED"/>
                </a:solidFill>
                <a:latin typeface="Arial"/>
              </a:rPr>
              <a:t>$997</a:t>
            </a:r>
            <a:r>
              <a:rPr sz="1400">
                <a:solidFill>
                  <a:srgbClr val="94A3B8"/>
                </a:solidFill>
                <a:latin typeface="Arial"/>
              </a:rPr>
              <a:t>/month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8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✓  Unlimited Voice Minutes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8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✓  Multi-channel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58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✓  Custom Integrations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58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✓  Dedicated Account Mgmt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58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✓  Weekly Strategy Calls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78BFA"/>
                </a:solidFill>
                <a:latin typeface="Arial"/>
              </a:defRPr>
            </a:pPr>
            <a:r>
              <a:t>Unit Economics:  $497 avg revenue  —  ~$40 marginal cost per client  —  92% gross margin  —  12x payback on tool costs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FINANCIAL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Path to $50K+/Month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691257"/>
            <a:ext cx="1005840" cy="63623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37121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Arial"/>
              </a:defRPr>
            </a:pPr>
            <a:r>
              <a:t>$2K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8006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Mo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83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5 clients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4602183"/>
            <a:ext cx="1005840" cy="152697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428214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Arial"/>
              </a:defRPr>
            </a:pPr>
            <a:r>
              <a:t>$5K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48006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Mo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4983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12 clients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4436761"/>
            <a:ext cx="1005840" cy="31811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11672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Arial"/>
              </a:defRPr>
            </a:pPr>
            <a:r>
              <a:t>$12K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8006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Mo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983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25 clients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4245889"/>
            <a:ext cx="1005840" cy="508991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392584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Arial"/>
              </a:defRPr>
            </a:pPr>
            <a:r>
              <a:t>$19K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48006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Mo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4983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40 clients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991393"/>
            <a:ext cx="1005840" cy="763487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67135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Arial"/>
              </a:defRPr>
            </a:pPr>
            <a:r>
              <a:t>$29K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8006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Mo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983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60 clients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3736897"/>
            <a:ext cx="1005840" cy="1017983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341685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Arial"/>
              </a:defRPr>
            </a:pPr>
            <a:r>
              <a:t>$39K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48006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Mo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4983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80 clients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3227906"/>
            <a:ext cx="1005840" cy="152697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290786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$59K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48006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Mo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983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120 clients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87000" y="2209922"/>
            <a:ext cx="1005840" cy="254495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188988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$99K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48006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Mo 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4983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Arial"/>
              </a:defRPr>
            </a:pPr>
            <a:r>
              <a:t>200 clients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623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Arial"/>
              </a:defRPr>
            </a:pPr>
            <a:r>
              <a:t>Month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Break Even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25 clients covers all costs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623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Arial"/>
              </a:defRPr>
            </a:pPr>
            <a:r>
              <a:t>Month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$50K MRR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Target achieved with 80 clients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623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Arial"/>
              </a:defRPr>
            </a:pPr>
            <a:r>
              <a:t>Month 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$100K MRR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200 clients, ready to scale team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COMPETITIVE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Why FNDI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303520" cy="123444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035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031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In-Person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We show up. We sit with the business owner. We demo it live. None of our competitors do door-to-door in local markets.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303520" cy="123444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3035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1031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All-in-One Bundle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14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Voice AI + Chatbot + CRM + Automation under one roof, one invoice. Competitors sell individual pieces.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46120"/>
            <a:ext cx="5303520" cy="123444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53035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204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Industry-Specific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Every AI agent is trained for the specific business type — dental, restaurant, salon. Not generic templates.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246120"/>
            <a:ext cx="5303520" cy="123444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246120"/>
            <a:ext cx="53035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5204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Zero Tech 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931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The client doesn't configure anything. We handle everything. They just see results.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663440"/>
            <a:ext cx="5303520" cy="123444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663440"/>
            <a:ext cx="53035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937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9377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No Contracts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49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Month-to-month pricing. Clients stay because it works, not because they're locked in.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663440"/>
            <a:ext cx="5303520" cy="123444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663440"/>
            <a:ext cx="53035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937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9377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92% Margins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349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White-label model means enterprise-grade tools at startup costs. We control the full stack.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From Miami to Nationwide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2743200" cy="457200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Phase 1: Prove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rial"/>
              </a:defRPr>
            </a:pPr>
            <a:r>
              <a:t>Months 1-3  •  Miami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Door-to-door sales in Brickell, Wynwood, Coral Gables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Target 25 clients across dental, restaurants, med spas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Build case studies with real ROI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Refine pitch, onboarding, and support process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920240"/>
            <a:ext cx="2743200" cy="457200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92024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Phase 2: Scale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423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rial"/>
              </a:defRPr>
            </a:pPr>
            <a:r>
              <a:t>Months 4-6  •  South Florida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Hire 2-3 commission-only sales reps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429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Expand to Fort Lauderdale, West Palm Beach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Launch referral program (1 month free per referral)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434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Hit 80 clients and $50K MRR target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920240"/>
            <a:ext cx="2743200" cy="457200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92024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Phase 3: Dominate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23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rial"/>
              </a:defRPr>
            </a:pPr>
            <a:r>
              <a:t>Months 7-12  •  Multi-City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Expand to Tampa, Orlando, Jacksonville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29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Build dedicated support team (2-3 people)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Develop proprietary AI fine-tuned for top industries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34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Reach 200 clients and $100K MRR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1920240"/>
            <a:ext cx="2743200" cy="457200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8280" y="192024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Phase 4: Go Big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423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rial"/>
              </a:defRPr>
            </a:pPr>
            <a:r>
              <a:t>Year 2+  •  Nationwide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Launch in top 20 US metro areas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3429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Build own AI platform (replace Synthflow)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Raise growth capital if needed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4434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→  Target 1,000+ clients and $500K+ MRR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Built to Execute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4114800" cy="320040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41148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71800" y="2286000"/>
            <a:ext cx="914400" cy="914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Stefano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Arial"/>
              </a:defRPr>
            </a:pPr>
            <a:r>
              <a:t>CEO &amp; Founder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1148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Vision, strategy, and sales. The face of FNDI — builds relationships, closes deals, and drives the company forward.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011680"/>
            <a:ext cx="4114800" cy="320040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011680"/>
            <a:ext cx="41148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75320" y="2286000"/>
            <a:ext cx="914400" cy="914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Mac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Arial"/>
              </a:defRPr>
            </a:pPr>
            <a:r>
              <a:t>COO &amp; Co-Founder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1148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Technical execution and operations. Builds and configures every AI agent, manages the tech stack, and keeps everything running.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78BFA"/>
                </a:solidFill>
                <a:latin typeface="Arial"/>
              </a:defRPr>
            </a:pPr>
            <a:r>
              <a:t>Hiring Plan:   Month 3 → Sales Rep #1 (commission)   |   Month 5 → Sales Rep #2   |   Month 8 → Support Lead   |   Month 10 → AI Engineer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FUNDING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Two Paths to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29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Arial"/>
              </a:defRPr>
            </a:pPr>
            <a:r>
              <a:t>Path A: Bootstrap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Arial"/>
              </a:defRPr>
            </a:pPr>
            <a:r>
              <a:t>Self-funded from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✓  Keep 100% ownership and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✓  Start profitable from Month 1 ($173/mo costs)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✓  Reinvest revenue into sales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26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✓  Slower growth but zero debt, zero dilution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✓  Reach $50K MRR by Month 6-8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49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✓  Build to $100K MRR by Month 12-15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1E1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011680"/>
            <a:ext cx="5029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3AED"/>
                </a:solidFill>
                <a:latin typeface="Arial"/>
              </a:defRPr>
            </a:pPr>
            <a:r>
              <a:t>Path B: Raise Capital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Arial"/>
              </a:defRPr>
            </a:pPr>
            <a:r>
              <a:t>Seed round after proving product-market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291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✓  Prove model with 25+ clients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703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✓  Raise $250K-$500K seed round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✓  Hire sales team and expand to 5 cities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526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✓  Build proprietary AI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937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✓  Reach $100K MRR by Month 6-8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349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✓  Position for Series A at $1M+ MRR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  <a:latin typeface="Arial Black"/>
              </a:defRPr>
            </a:pPr>
            <a:r>
              <a:t>FNDI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Arial"/>
              </a:defRPr>
            </a:pPr>
            <a:r>
              <a:t>The Future of Local Business is AI.</a:t>
            </a:r>
            <a:br/>
            <a:r>
              <a:t>We're Building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200400"/>
            <a:ext cx="2103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78BFA"/>
                </a:solidFill>
                <a:latin typeface="Arial"/>
              </a:defRPr>
            </a:pPr>
            <a:r>
              <a:t>Let's Talk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stefano10345@gmail.com  •  +1 (786) 843-0145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fndi-site.vercel.app  •  fndi-site.vercel.app/book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Miami, FL  •  Launching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